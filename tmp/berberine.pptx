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 넣고 글자 삭제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ctr">
              <a:lnSpc>
                <a:spcPct val="130000"/>
              </a:lnSpc>
            </a:pPr>
            <a:r>
              <a:rPr sz="2550" b="1" lang="ko-KR">
                <a:solidFill>
                  <a:srgbClr val="FFFFFF"/>
                </a:solidFill>
                <a:latin typeface="Pretendard"/>
                <a:ea typeface="Pretendard"/>
              </a:rPr>
              <a:t>📷 사진 자리</a:t>
            </a:r>
          </a:p>
          <a:p>
            <a:pPr algn="ctr">
              <a:lnSpc>
                <a:spcPct val="130000"/>
              </a:lnSpc>
            </a:pPr>
            <a:r>
              <a:rPr sz="1800" b="0" lang="ko-KR">
                <a:solidFill>
                  <a:srgbClr val="FFFFFF"/>
                </a:solidFill>
                <a:latin typeface="Pretendard"/>
                <a:ea typeface="Pretendard"/>
              </a:rPr>
              <a:t>약사님이 위를 가리키며 놀란 표정 (레퍼런스와 같은 포즈), 흰 가운</a:t>
            </a:r>
          </a:p>
        </p:txBody>
      </p:sp>
      <p:sp>
        <p:nvSpPr>
          <p:cNvPr id="3" name="제목 검정 박스"/>
          <p:cNvSpPr/>
          <p:nvPr/>
        </p:nvSpPr>
        <p:spPr>
          <a:xfrm>
            <a:off x="2590800" y="571500"/>
            <a:ext cx="5105400" cy="990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900" b="1" lang="ko-KR">
                <a:solidFill>
                  <a:srgbClr val="FFFFFF"/>
                </a:solidFill>
                <a:latin typeface="Pretendard"/>
                <a:ea typeface="Pretendard"/>
              </a:rPr>
              <a:t>약사가 추천하는</a:t>
            </a:r>
          </a:p>
        </p:txBody>
      </p:sp>
      <p:sp>
        <p:nvSpPr>
          <p:cNvPr id="4" name="제목 흰 박스"/>
          <p:cNvSpPr/>
          <p:nvPr/>
        </p:nvSpPr>
        <p:spPr>
          <a:xfrm>
            <a:off x="190500" y="1676400"/>
            <a:ext cx="9906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750" b="1" lang="ko-KR">
                <a:solidFill>
                  <a:srgbClr val="111111"/>
                </a:solidFill>
                <a:latin typeface="Pretendard"/>
                <a:ea typeface="Pretendard"/>
              </a:rPr>
              <a:t>50대 여성 삶의 질 수직상승 영양제</a:t>
            </a:r>
          </a:p>
        </p:txBody>
      </p:sp>
      <p:sp>
        <p:nvSpPr>
          <p:cNvPr id="5" name="성분 라벨"/>
          <p:cNvSpPr/>
          <p:nvPr/>
        </p:nvSpPr>
        <p:spPr>
          <a:xfrm>
            <a:off x="571500" y="10953750"/>
            <a:ext cx="4953000" cy="857250"/>
          </a:xfrm>
          <a:prstGeom prst="rect">
            <a:avLst/>
          </a:prstGeom>
          <a:solidFill>
            <a:srgbClr val="8F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2850" b="1" lang="ko-KR">
                <a:solidFill>
                  <a:srgbClr val="111111"/>
                </a:solidFill>
                <a:latin typeface="Pretendard"/>
                <a:ea typeface="Pretendard"/>
              </a:rPr>
              <a:t>오늘의 주인공: 베르베린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제목 검정 박스"/>
          <p:cNvSpPr/>
          <p:nvPr/>
        </p:nvSpPr>
        <p:spPr>
          <a:xfrm>
            <a:off x="2095500" y="666750"/>
            <a:ext cx="6096000" cy="990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900" b="1" lang="ko-KR">
                <a:solidFill>
                  <a:srgbClr val="FFFFFF"/>
                </a:solidFill>
                <a:latin typeface="Pretendard"/>
                <a:ea typeface="Pretendard"/>
              </a:rPr>
              <a:t>먹는 건 그대로인데</a:t>
            </a:r>
          </a:p>
        </p:txBody>
      </p:sp>
      <p:sp>
        <p:nvSpPr>
          <p:cNvPr id="4" name="제목 흰 박스"/>
          <p:cNvSpPr/>
          <p:nvPr/>
        </p:nvSpPr>
        <p:spPr>
          <a:xfrm>
            <a:off x="1762125" y="1771650"/>
            <a:ext cx="676275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750" b="1" lang="ko-KR">
                <a:solidFill>
                  <a:srgbClr val="111111"/>
                </a:solidFill>
                <a:latin typeface="Pretendard"/>
                <a:ea typeface="Pretendard"/>
              </a:rPr>
              <a:t>왜 나만 살이 찔까요?</a:t>
            </a:r>
          </a:p>
        </p:txBody>
      </p:sp>
      <p:sp>
        <p:nvSpPr>
          <p:cNvPr id="5" name="상황 1"/>
          <p:cNvSpPr/>
          <p:nvPr/>
        </p:nvSpPr>
        <p:spPr>
          <a:xfrm>
            <a:off x="666750" y="3429000"/>
            <a:ext cx="8953500" cy="1381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0000"/>
              </a:lnSpc>
            </a:pPr>
            <a:r>
              <a:rPr sz="2850" b="0" lang="ko-KR">
                <a:solidFill>
                  <a:srgbClr val="111111"/>
                </a:solidFill>
                <a:latin typeface="Pretendard"/>
                <a:ea typeface="Pretendard"/>
              </a:rPr>
              <a:t>☑  저녁 조금 먹었는데 </a:t>
            </a:r>
            <a:r>
              <a:rPr sz="2850" b="1" lang="ko-KR">
                <a:solidFill>
                  <a:srgbClr val="C83A3A"/>
                </a:solidFill>
                <a:latin typeface="Pretendard"/>
                <a:ea typeface="Pretendard"/>
              </a:rPr>
              <a:t>아랫배</a:t>
            </a:r>
            <a:r>
              <a:rPr sz="2850" b="0" lang="ko-KR">
                <a:solidFill>
                  <a:srgbClr val="111111"/>
                </a:solidFill>
                <a:latin typeface="Pretendard"/>
                <a:ea typeface="Pretendard"/>
              </a:rPr>
              <a:t>만 나와요</a:t>
            </a:r>
          </a:p>
        </p:txBody>
      </p:sp>
      <p:sp>
        <p:nvSpPr>
          <p:cNvPr id="6" name="상황 2"/>
          <p:cNvSpPr/>
          <p:nvPr/>
        </p:nvSpPr>
        <p:spPr>
          <a:xfrm>
            <a:off x="666750" y="5095875"/>
            <a:ext cx="8953500" cy="1381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0000"/>
              </a:lnSpc>
            </a:pPr>
            <a:r>
              <a:rPr sz="2850" b="0" lang="ko-KR">
                <a:solidFill>
                  <a:srgbClr val="111111"/>
                </a:solidFill>
                <a:latin typeface="Pretendard"/>
                <a:ea typeface="Pretendard"/>
              </a:rPr>
              <a:t>☑  즐겨 입던 바지가 </a:t>
            </a:r>
            <a:r>
              <a:rPr sz="2850" b="1" lang="ko-KR">
                <a:solidFill>
                  <a:srgbClr val="C83A3A"/>
                </a:solidFill>
                <a:latin typeface="Pretendard"/>
                <a:ea typeface="Pretendard"/>
              </a:rPr>
              <a:t>허리</a:t>
            </a:r>
            <a:r>
              <a:rPr sz="2850" b="0" lang="ko-KR">
                <a:solidFill>
                  <a:srgbClr val="111111"/>
                </a:solidFill>
                <a:latin typeface="Pretendard"/>
                <a:ea typeface="Pretendard"/>
              </a:rPr>
              <a:t>에서 안 잠겨요</a:t>
            </a:r>
          </a:p>
        </p:txBody>
      </p:sp>
      <p:sp>
        <p:nvSpPr>
          <p:cNvPr id="7" name="상황 3"/>
          <p:cNvSpPr/>
          <p:nvPr/>
        </p:nvSpPr>
        <p:spPr>
          <a:xfrm>
            <a:off x="666750" y="6762750"/>
            <a:ext cx="8953500" cy="1381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0000"/>
              </a:lnSpc>
            </a:pPr>
            <a:r>
              <a:rPr sz="2850" b="0" lang="ko-KR">
                <a:solidFill>
                  <a:srgbClr val="111111"/>
                </a:solidFill>
                <a:latin typeface="Pretendard"/>
                <a:ea typeface="Pretendard"/>
              </a:rPr>
              <a:t>☑  점심 먹고 나면 </a:t>
            </a:r>
            <a:r>
              <a:rPr sz="2850" b="1" lang="ko-KR">
                <a:solidFill>
                  <a:srgbClr val="C83A3A"/>
                </a:solidFill>
                <a:latin typeface="Pretendard"/>
                <a:ea typeface="Pretendard"/>
              </a:rPr>
              <a:t>졸음</a:t>
            </a:r>
            <a:r>
              <a:rPr sz="2850" b="0" lang="ko-KR">
                <a:solidFill>
                  <a:srgbClr val="111111"/>
                </a:solidFill>
                <a:latin typeface="Pretendard"/>
                <a:ea typeface="Pretendard"/>
              </a:rPr>
              <a:t>이 쏟아져요</a:t>
            </a:r>
          </a:p>
        </p:txBody>
      </p:sp>
      <p:sp>
        <p:nvSpPr>
          <p:cNvPr id="8" name="상황 4"/>
          <p:cNvSpPr/>
          <p:nvPr/>
        </p:nvSpPr>
        <p:spPr>
          <a:xfrm>
            <a:off x="666750" y="8429625"/>
            <a:ext cx="8953500" cy="1381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0000"/>
              </a:lnSpc>
            </a:pPr>
            <a:r>
              <a:rPr sz="2850" b="0" lang="ko-KR">
                <a:solidFill>
                  <a:srgbClr val="111111"/>
                </a:solidFill>
                <a:latin typeface="Pretendard"/>
                <a:ea typeface="Pretendard"/>
              </a:rPr>
              <a:t>☑  오후 4시만 되면 </a:t>
            </a:r>
            <a:r>
              <a:rPr sz="2850" b="1" lang="ko-KR">
                <a:solidFill>
                  <a:srgbClr val="C83A3A"/>
                </a:solidFill>
                <a:latin typeface="Pretendard"/>
                <a:ea typeface="Pretendard"/>
              </a:rPr>
              <a:t>단 게</a:t>
            </a:r>
            <a:r>
              <a:rPr sz="2850" b="0" lang="ko-KR">
                <a:solidFill>
                  <a:srgbClr val="111111"/>
                </a:solidFill>
                <a:latin typeface="Pretendard"/>
                <a:ea typeface="Pretendard"/>
              </a:rPr>
              <a:t> 당겨요</a:t>
            </a:r>
          </a:p>
        </p:txBody>
      </p:sp>
      <p:sp>
        <p:nvSpPr>
          <p:cNvPr id="9" name="상황 정리"/>
          <p:cNvSpPr txBox="1"/>
          <p:nvPr/>
        </p:nvSpPr>
        <p:spPr>
          <a:xfrm>
            <a:off x="666750" y="10287000"/>
            <a:ext cx="89535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50" b="1" lang="ko-KR">
                <a:solidFill>
                  <a:srgbClr val="111111"/>
                </a:solidFill>
                <a:latin typeface="Pretendard"/>
                <a:ea typeface="Pretendard"/>
              </a:rPr>
              <a:t>하나라도 해당되면 </a:t>
            </a:r>
            <a:r>
              <a:rPr sz="2550" b="1" lang="ko-KR">
                <a:solidFill>
                  <a:srgbClr val="C83A3A"/>
                </a:solidFill>
                <a:latin typeface="Pretendard"/>
                <a:ea typeface="Pretendard"/>
              </a:rPr>
              <a:t>의지 문제가 아니에요.</a:t>
            </a:r>
          </a:p>
          <a:p>
            <a:pPr algn="ctr">
              <a:lnSpc>
                <a:spcPct val="130000"/>
              </a:lnSpc>
            </a:pPr>
            <a:r>
              <a:rPr sz="2550" b="1" lang="ko-KR">
                <a:solidFill>
                  <a:srgbClr val="111111"/>
                </a:solidFill>
                <a:latin typeface="Pretendard"/>
                <a:ea typeface="Pretendard"/>
              </a:rPr>
              <a:t>50대 몸이 바뀌고 있다는 신호예요.</a:t>
            </a:r>
          </a:p>
        </p:txBody>
      </p:sp>
      <p:sp>
        <p:nvSpPr>
          <p:cNvPr id="10" name="쪽수"/>
          <p:cNvSpPr txBox="1"/>
          <p:nvPr/>
        </p:nvSpPr>
        <p:spPr>
          <a:xfrm>
            <a:off x="9144000" y="1228725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2/8</a:t>
            </a:r>
          </a:p>
        </p:txBody>
      </p:sp>
      <p:sp>
        <p:nvSpPr>
          <p:cNvPr id="11" name="계정 아이디"/>
          <p:cNvSpPr txBox="1"/>
          <p:nvPr/>
        </p:nvSpPr>
        <p:spPr>
          <a:xfrm>
            <a:off x="381000" y="12287250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@[계정 아이디]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제목 검정 박스"/>
          <p:cNvSpPr/>
          <p:nvPr/>
        </p:nvSpPr>
        <p:spPr>
          <a:xfrm>
            <a:off x="1352550" y="666750"/>
            <a:ext cx="7581900" cy="990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900" b="1" lang="ko-KR">
                <a:solidFill>
                  <a:srgbClr val="FFFFFF"/>
                </a:solidFill>
                <a:latin typeface="Pretendard"/>
                <a:ea typeface="Pretendard"/>
              </a:rPr>
              <a:t>50대에 살이 찌는 이유</a:t>
            </a:r>
          </a:p>
        </p:txBody>
      </p:sp>
      <p:sp>
        <p:nvSpPr>
          <p:cNvPr id="4" name="제목 흰 박스"/>
          <p:cNvSpPr/>
          <p:nvPr/>
        </p:nvSpPr>
        <p:spPr>
          <a:xfrm>
            <a:off x="1762125" y="1771650"/>
            <a:ext cx="676275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750" b="1" lang="ko-KR">
                <a:solidFill>
                  <a:srgbClr val="111111"/>
                </a:solidFill>
                <a:latin typeface="Pretendard"/>
                <a:ea typeface="Pretendard"/>
              </a:rPr>
              <a:t>몸의 기준이 바뀌었어요</a:t>
            </a:r>
          </a:p>
        </p:txBody>
      </p:sp>
      <p:sp>
        <p:nvSpPr>
          <p:cNvPr id="5" name="이유 1"/>
          <p:cNvSpPr/>
          <p:nvPr/>
        </p:nvSpPr>
        <p:spPr>
          <a:xfrm>
            <a:off x="666750" y="3429000"/>
            <a:ext cx="8953500" cy="204787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5000"/>
              </a:lnSpc>
            </a:pPr>
            <a:r>
              <a:rPr sz="3000" b="1" lang="ko-KR">
                <a:solidFill>
                  <a:srgbClr val="111111"/>
                </a:solidFill>
                <a:latin typeface="Pretendard"/>
                <a:ea typeface="Pretendard"/>
              </a:rPr>
              <a:t>① 여성호르몬이 줄면</a:t>
            </a:r>
          </a:p>
          <a:p>
            <a:pPr algn="l">
              <a:lnSpc>
                <a:spcPct val="135000"/>
              </a:lnSpc>
            </a:pPr>
            <a:r>
              <a:rPr sz="2400" b="0" lang="ko-KR">
                <a:solidFill>
                  <a:srgbClr val="5E5E5E"/>
                </a:solidFill>
                <a:latin typeface="Pretendard"/>
                <a:ea typeface="Pretendard"/>
              </a:rPr>
              <a:t>지방이 엉덩이·허벅지 대신 </a:t>
            </a:r>
            <a:r>
              <a:rPr sz="2400" b="1" lang="ko-KR">
                <a:solidFill>
                  <a:srgbClr val="C83A3A"/>
                </a:solidFill>
                <a:latin typeface="Pretendard"/>
                <a:ea typeface="Pretendard"/>
              </a:rPr>
              <a:t>배 쪽</a:t>
            </a:r>
            <a:r>
              <a:rPr sz="2400" b="0" lang="ko-KR">
                <a:solidFill>
                  <a:srgbClr val="5E5E5E"/>
                </a:solidFill>
                <a:latin typeface="Pretendard"/>
                <a:ea typeface="Pretendard"/>
              </a:rPr>
              <a:t>으로 모여요</a:t>
            </a:r>
          </a:p>
        </p:txBody>
      </p:sp>
      <p:sp>
        <p:nvSpPr>
          <p:cNvPr id="6" name="이유 2"/>
          <p:cNvSpPr/>
          <p:nvPr/>
        </p:nvSpPr>
        <p:spPr>
          <a:xfrm>
            <a:off x="666750" y="5762625"/>
            <a:ext cx="8953500" cy="204787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5000"/>
              </a:lnSpc>
            </a:pPr>
            <a:r>
              <a:rPr sz="3000" b="1" lang="ko-KR">
                <a:solidFill>
                  <a:srgbClr val="111111"/>
                </a:solidFill>
                <a:latin typeface="Pretendard"/>
                <a:ea typeface="Pretendard"/>
              </a:rPr>
              <a:t>② 근육이 줄면</a:t>
            </a:r>
          </a:p>
          <a:p>
            <a:pPr algn="l">
              <a:lnSpc>
                <a:spcPct val="135000"/>
              </a:lnSpc>
            </a:pPr>
            <a:r>
              <a:rPr sz="2400" b="0" lang="ko-KR">
                <a:solidFill>
                  <a:srgbClr val="5E5E5E"/>
                </a:solidFill>
                <a:latin typeface="Pretendard"/>
                <a:ea typeface="Pretendard"/>
              </a:rPr>
              <a:t>가만히 있어도 쓰는 에너지(기초대사량)가 </a:t>
            </a:r>
            <a:r>
              <a:rPr sz="2400" b="1" lang="ko-KR">
                <a:solidFill>
                  <a:srgbClr val="C83A3A"/>
                </a:solidFill>
                <a:latin typeface="Pretendard"/>
                <a:ea typeface="Pretendard"/>
              </a:rPr>
              <a:t>줄어요</a:t>
            </a:r>
          </a:p>
        </p:txBody>
      </p:sp>
      <p:sp>
        <p:nvSpPr>
          <p:cNvPr id="7" name="이유 3"/>
          <p:cNvSpPr/>
          <p:nvPr/>
        </p:nvSpPr>
        <p:spPr>
          <a:xfrm>
            <a:off x="666750" y="8096250"/>
            <a:ext cx="8953500" cy="204787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5000"/>
              </a:lnSpc>
            </a:pPr>
            <a:r>
              <a:rPr sz="3000" b="1" lang="ko-KR">
                <a:solidFill>
                  <a:srgbClr val="111111"/>
                </a:solidFill>
                <a:latin typeface="Pretendard"/>
                <a:ea typeface="Pretendard"/>
              </a:rPr>
              <a:t>③ 인슐린 반응이 둔해지면</a:t>
            </a:r>
          </a:p>
          <a:p>
            <a:pPr algn="l">
              <a:lnSpc>
                <a:spcPct val="135000"/>
              </a:lnSpc>
            </a:pPr>
            <a:r>
              <a:rPr sz="2400" b="0" lang="ko-KR">
                <a:solidFill>
                  <a:srgbClr val="5E5E5E"/>
                </a:solidFill>
                <a:latin typeface="Pretendard"/>
                <a:ea typeface="Pretendard"/>
              </a:rPr>
              <a:t>같은 밥을 먹어도 </a:t>
            </a:r>
            <a:r>
              <a:rPr sz="2400" b="1" lang="ko-KR">
                <a:solidFill>
                  <a:srgbClr val="C83A3A"/>
                </a:solidFill>
                <a:latin typeface="Pretendard"/>
                <a:ea typeface="Pretendard"/>
              </a:rPr>
              <a:t>식후 혈당이 크게 출렁</a:t>
            </a:r>
            <a:r>
              <a:rPr sz="2400" b="0" lang="ko-KR">
                <a:solidFill>
                  <a:srgbClr val="5E5E5E"/>
                </a:solidFill>
                <a:latin typeface="Pretendard"/>
                <a:ea typeface="Pretendard"/>
              </a:rPr>
              <a:t>여요</a:t>
            </a:r>
          </a:p>
        </p:txBody>
      </p:sp>
      <p:sp>
        <p:nvSpPr>
          <p:cNvPr id="8" name="이유 정리"/>
          <p:cNvSpPr txBox="1"/>
          <p:nvPr/>
        </p:nvSpPr>
        <p:spPr>
          <a:xfrm>
            <a:off x="666750" y="10572750"/>
            <a:ext cx="89535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lang="ko-KR">
                <a:solidFill>
                  <a:srgbClr val="111111"/>
                </a:solidFill>
                <a:latin typeface="Pretendard"/>
                <a:ea typeface="Pretendard"/>
              </a:rPr>
              <a:t>그래서 예전처럼 굶는 다이어트는</a:t>
            </a:r>
          </a:p>
          <a:p>
            <a:pPr algn="ctr">
              <a:lnSpc>
                <a:spcPct val="130000"/>
              </a:lnSpc>
            </a:pPr>
            <a:r>
              <a:rPr sz="2400" b="1" lang="ko-KR">
                <a:solidFill>
                  <a:srgbClr val="C83A3A"/>
                </a:solidFill>
                <a:latin typeface="Pretendard"/>
                <a:ea typeface="Pretendard"/>
              </a:rPr>
              <a:t>근육만 더 빠지고</a:t>
            </a:r>
            <a:r>
              <a:rPr sz="2400" b="1" lang="ko-KR">
                <a:solidFill>
                  <a:srgbClr val="111111"/>
                </a:solidFill>
                <a:latin typeface="Pretendard"/>
                <a:ea typeface="Pretendard"/>
              </a:rPr>
              <a:t> 금방 돌아와요.</a:t>
            </a:r>
          </a:p>
        </p:txBody>
      </p:sp>
      <p:sp>
        <p:nvSpPr>
          <p:cNvPr id="9" name="쪽수"/>
          <p:cNvSpPr txBox="1"/>
          <p:nvPr/>
        </p:nvSpPr>
        <p:spPr>
          <a:xfrm>
            <a:off x="9144000" y="1228725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3/8</a:t>
            </a:r>
          </a:p>
        </p:txBody>
      </p:sp>
      <p:sp>
        <p:nvSpPr>
          <p:cNvPr id="10" name="계정 아이디"/>
          <p:cNvSpPr txBox="1"/>
          <p:nvPr/>
        </p:nvSpPr>
        <p:spPr>
          <a:xfrm>
            <a:off x="381000" y="12287250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@[계정 아이디]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제목 검정 박스"/>
          <p:cNvSpPr/>
          <p:nvPr/>
        </p:nvSpPr>
        <p:spPr>
          <a:xfrm>
            <a:off x="1352550" y="666750"/>
            <a:ext cx="7581900" cy="990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900" b="1" lang="ko-KR">
                <a:solidFill>
                  <a:srgbClr val="FFFFFF"/>
                </a:solidFill>
                <a:latin typeface="Pretendard"/>
                <a:ea typeface="Pretendard"/>
              </a:rPr>
              <a:t>50대 체중 관리의 핵심</a:t>
            </a:r>
          </a:p>
        </p:txBody>
      </p:sp>
      <p:sp>
        <p:nvSpPr>
          <p:cNvPr id="4" name="제목 흰 박스"/>
          <p:cNvSpPr/>
          <p:nvPr/>
        </p:nvSpPr>
        <p:spPr>
          <a:xfrm>
            <a:off x="1285875" y="1771650"/>
            <a:ext cx="771525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750" b="1" lang="ko-KR">
                <a:solidFill>
                  <a:srgbClr val="111111"/>
                </a:solidFill>
                <a:latin typeface="Pretendard"/>
                <a:ea typeface="Pretendard"/>
              </a:rPr>
              <a:t>“식후 혈당 출렁임” 잡기</a:t>
            </a:r>
          </a:p>
        </p:txBody>
      </p:sp>
      <p:sp>
        <p:nvSpPr>
          <p:cNvPr id="5" name="악순환"/>
          <p:cNvSpPr/>
          <p:nvPr/>
        </p:nvSpPr>
        <p:spPr>
          <a:xfrm>
            <a:off x="666750" y="3429000"/>
            <a:ext cx="89535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40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식후 혈당이 확 올랐다 뚝 떨어지면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2550" b="0" lang="ko-KR">
                <a:solidFill>
                  <a:srgbClr val="111111"/>
                </a:solidFill>
                <a:latin typeface="Pretendard"/>
                <a:ea typeface="Pretendard"/>
              </a:rPr>
              <a:t>→ 남은 에너지는 </a:t>
            </a:r>
            <a:r>
              <a:rPr sz="2550" b="1" lang="ko-KR">
                <a:solidFill>
                  <a:srgbClr val="C83A3A"/>
                </a:solidFill>
                <a:latin typeface="Pretendard"/>
                <a:ea typeface="Pretendard"/>
              </a:rPr>
              <a:t>배에 지방</a:t>
            </a:r>
            <a:r>
              <a:rPr sz="2550" b="0" lang="ko-KR">
                <a:solidFill>
                  <a:srgbClr val="111111"/>
                </a:solidFill>
                <a:latin typeface="Pretendard"/>
                <a:ea typeface="Pretendard"/>
              </a:rPr>
              <a:t>으로 저장</a:t>
            </a:r>
          </a:p>
          <a:p>
            <a:pPr algn="l">
              <a:lnSpc>
                <a:spcPct val="140000"/>
              </a:lnSpc>
            </a:pPr>
            <a:r>
              <a:rPr sz="2550" b="0" lang="ko-KR">
                <a:solidFill>
                  <a:srgbClr val="111111"/>
                </a:solidFill>
                <a:latin typeface="Pretendard"/>
                <a:ea typeface="Pretendard"/>
              </a:rPr>
              <a:t>→ 떨어질 때 </a:t>
            </a:r>
            <a:r>
              <a:rPr sz="2550" b="1" lang="ko-KR">
                <a:solidFill>
                  <a:srgbClr val="C83A3A"/>
                </a:solidFill>
                <a:latin typeface="Pretendard"/>
                <a:ea typeface="Pretendard"/>
              </a:rPr>
              <a:t>졸음·피로</a:t>
            </a:r>
            <a:r>
              <a:rPr sz="2550" b="0" lang="ko-KR">
                <a:solidFill>
                  <a:srgbClr val="111111"/>
                </a:solidFill>
                <a:latin typeface="Pretendard"/>
                <a:ea typeface="Pretendard"/>
              </a:rPr>
              <a:t>가 몰려오고</a:t>
            </a:r>
          </a:p>
          <a:p>
            <a:pPr algn="l">
              <a:lnSpc>
                <a:spcPct val="140000"/>
              </a:lnSpc>
            </a:pPr>
            <a:r>
              <a:rPr sz="2550" b="0" lang="ko-KR">
                <a:solidFill>
                  <a:srgbClr val="111111"/>
                </a:solidFill>
                <a:latin typeface="Pretendard"/>
                <a:ea typeface="Pretendard"/>
              </a:rPr>
              <a:t>→ 다시 </a:t>
            </a:r>
            <a:r>
              <a:rPr sz="2550" b="1" lang="ko-KR">
                <a:solidFill>
                  <a:srgbClr val="C83A3A"/>
                </a:solidFill>
                <a:latin typeface="Pretendard"/>
                <a:ea typeface="Pretendard"/>
              </a:rPr>
              <a:t>단 게 당기는</a:t>
            </a:r>
            <a:r>
              <a:rPr sz="2550" b="0" lang="ko-KR">
                <a:solidFill>
                  <a:srgbClr val="111111"/>
                </a:solidFill>
                <a:latin typeface="Pretendard"/>
                <a:ea typeface="Pretendard"/>
              </a:rPr>
              <a:t> 악순환</a:t>
            </a:r>
          </a:p>
        </p:txBody>
      </p:sp>
      <p:sp>
        <p:nvSpPr>
          <p:cNvPr id="6" name="기본 루틴"/>
          <p:cNvSpPr/>
          <p:nvPr/>
        </p:nvSpPr>
        <p:spPr>
          <a:xfrm>
            <a:off x="666750" y="7239000"/>
            <a:ext cx="8953500" cy="28575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45000"/>
              </a:lnSpc>
            </a:pPr>
            <a:r>
              <a:rPr sz="2550" b="1" lang="ko-KR">
                <a:solidFill>
                  <a:srgbClr val="8FB4E3"/>
                </a:solidFill>
                <a:latin typeface="Pretendard"/>
                <a:ea typeface="Pretendard"/>
              </a:rPr>
              <a:t>약사가 권하는 기본 루틴</a:t>
            </a:r>
          </a:p>
          <a:p>
            <a:pPr algn="l">
              <a:lnSpc>
                <a:spcPct val="145000"/>
              </a:lnSpc>
            </a:pPr>
            <a:r>
              <a:rPr sz="2550" b="0" lang="ko-KR">
                <a:solidFill>
                  <a:srgbClr val="FFFFFF"/>
                </a:solidFill>
                <a:latin typeface="Pretendard"/>
                <a:ea typeface="Pretendard"/>
              </a:rPr>
              <a:t>1. 채소·단백질 먼저, 밥은 나중에</a:t>
            </a:r>
          </a:p>
          <a:p>
            <a:pPr algn="l">
              <a:lnSpc>
                <a:spcPct val="145000"/>
              </a:lnSpc>
            </a:pPr>
            <a:r>
              <a:rPr sz="2550" b="0" lang="ko-KR">
                <a:solidFill>
                  <a:srgbClr val="FFFFFF"/>
                </a:solidFill>
                <a:latin typeface="Pretendard"/>
                <a:ea typeface="Pretendard"/>
              </a:rPr>
              <a:t>2. 식후 10분 걷기</a:t>
            </a:r>
          </a:p>
          <a:p>
            <a:pPr algn="l">
              <a:lnSpc>
                <a:spcPct val="145000"/>
              </a:lnSpc>
            </a:pPr>
            <a:r>
              <a:rPr sz="2550" b="1" lang="ko-KR">
                <a:solidFill>
                  <a:srgbClr val="FFFFFF"/>
                </a:solidFill>
                <a:latin typeface="Pretendard"/>
                <a:ea typeface="Pretendard"/>
              </a:rPr>
              <a:t>3. 여기에 도움 줄 성분 하나 더하기</a:t>
            </a:r>
          </a:p>
        </p:txBody>
      </p:sp>
      <p:sp>
        <p:nvSpPr>
          <p:cNvPr id="7" name="다음 장 유도"/>
          <p:cNvSpPr txBox="1"/>
          <p:nvPr/>
        </p:nvSpPr>
        <p:spPr>
          <a:xfrm>
            <a:off x="666750" y="10477500"/>
            <a:ext cx="89535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그 성분이 바로 ↓</a:t>
            </a:r>
          </a:p>
        </p:txBody>
      </p:sp>
      <p:sp>
        <p:nvSpPr>
          <p:cNvPr id="8" name="쪽수"/>
          <p:cNvSpPr txBox="1"/>
          <p:nvPr/>
        </p:nvSpPr>
        <p:spPr>
          <a:xfrm>
            <a:off x="9144000" y="1228725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4/8</a:t>
            </a:r>
          </a:p>
        </p:txBody>
      </p:sp>
      <p:sp>
        <p:nvSpPr>
          <p:cNvPr id="9" name="계정 아이디"/>
          <p:cNvSpPr txBox="1"/>
          <p:nvPr/>
        </p:nvSpPr>
        <p:spPr>
          <a:xfrm>
            <a:off x="381000" y="12287250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@[계정 아이디]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제목 검정 박스"/>
          <p:cNvSpPr/>
          <p:nvPr/>
        </p:nvSpPr>
        <p:spPr>
          <a:xfrm>
            <a:off x="2095500" y="666750"/>
            <a:ext cx="6096000" cy="990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900" b="1" lang="ko-KR">
                <a:solidFill>
                  <a:srgbClr val="FFFFFF"/>
                </a:solidFill>
                <a:latin typeface="Pretendard"/>
                <a:ea typeface="Pretendard"/>
              </a:rPr>
              <a:t>베르베린이 뭐예요?</a:t>
            </a:r>
          </a:p>
        </p:txBody>
      </p:sp>
      <p:sp>
        <p:nvSpPr>
          <p:cNvPr id="4" name="제목 흰 박스"/>
          <p:cNvSpPr/>
          <p:nvPr/>
        </p:nvSpPr>
        <p:spPr>
          <a:xfrm>
            <a:off x="1762125" y="1771650"/>
            <a:ext cx="676275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750" b="1" lang="ko-KR">
                <a:solidFill>
                  <a:srgbClr val="111111"/>
                </a:solidFill>
                <a:latin typeface="Pretendard"/>
                <a:ea typeface="Pretendard"/>
              </a:rPr>
              <a:t>식물에서 온 노란 성분</a:t>
            </a:r>
          </a:p>
        </p:txBody>
      </p:sp>
      <p:sp>
        <p:nvSpPr>
          <p:cNvPr id="5" name="사진 자리 (사진 넣고 글자 삭제)"/>
          <p:cNvSpPr/>
          <p:nvPr/>
        </p:nvSpPr>
        <p:spPr>
          <a:xfrm>
            <a:off x="666750" y="3429000"/>
            <a:ext cx="8953500" cy="4000500"/>
          </a:xfrm>
          <a:prstGeom prst="rect">
            <a:avLst/>
          </a:prstGeom>
          <a:solidFill>
            <a:srgbClr val="C9C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ctr">
              <a:lnSpc>
                <a:spcPct val="130000"/>
              </a:lnSpc>
            </a:pPr>
            <a:r>
              <a:rPr sz="2550" b="1" lang="ko-KR">
                <a:solidFill>
                  <a:srgbClr val="FFFFFF"/>
                </a:solidFill>
                <a:latin typeface="Pretendard"/>
                <a:ea typeface="Pretendard"/>
              </a:rPr>
              <a:t>📷 사진 자리</a:t>
            </a:r>
          </a:p>
          <a:p>
            <a:pPr algn="ctr">
              <a:lnSpc>
                <a:spcPct val="130000"/>
              </a:lnSpc>
            </a:pPr>
            <a:r>
              <a:rPr sz="1800" b="0" lang="ko-KR">
                <a:solidFill>
                  <a:srgbClr val="FFFFFF"/>
                </a:solidFill>
                <a:latin typeface="Pretendard"/>
                <a:ea typeface="Pretendard"/>
              </a:rPr>
              <a:t>베르베린 제품을 손에 들고 있는 컷 또는 노란 원료 이미지</a:t>
            </a:r>
          </a:p>
        </p:txBody>
      </p:sp>
      <p:sp>
        <p:nvSpPr>
          <p:cNvPr id="6" name="베르베린 설명"/>
          <p:cNvSpPr/>
          <p:nvPr/>
        </p:nvSpPr>
        <p:spPr>
          <a:xfrm>
            <a:off x="666750" y="7715250"/>
            <a:ext cx="8953500" cy="3619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45000"/>
              </a:lnSpc>
            </a:pPr>
            <a:r>
              <a:rPr sz="2400" b="0" lang="ko-KR">
                <a:solidFill>
                  <a:srgbClr val="111111"/>
                </a:solidFill>
                <a:latin typeface="Pretendard"/>
                <a:ea typeface="Pretendard"/>
              </a:rPr>
              <a:t>✔ 황련·매자나무 뿌리 등에서 얻는 성분이에요</a:t>
            </a:r>
          </a:p>
          <a:p>
            <a:pPr algn="l">
              <a:lnSpc>
                <a:spcPct val="145000"/>
              </a:lnSpc>
            </a:pPr>
            <a:r>
              <a:rPr sz="2400" b="0" lang="ko-KR">
                <a:solidFill>
                  <a:srgbClr val="111111"/>
                </a:solidFill>
                <a:latin typeface="Pretendard"/>
                <a:ea typeface="Pretendard"/>
              </a:rPr>
              <a:t>✔ 오래전부터 쓰여 온 전통 원료예요</a:t>
            </a:r>
          </a:p>
          <a:p>
            <a:pPr algn="l">
              <a:lnSpc>
                <a:spcPct val="145000"/>
              </a:lnSpc>
            </a:pPr>
            <a:r>
              <a:rPr sz="2400" b="0" lang="ko-KR">
                <a:solidFill>
                  <a:srgbClr val="111111"/>
                </a:solidFill>
                <a:latin typeface="Pretendard"/>
                <a:ea typeface="Pretendard"/>
              </a:rPr>
              <a:t>✔ 요즘은 </a:t>
            </a:r>
            <a:r>
              <a:rPr sz="2400" b="1" lang="ko-KR">
                <a:solidFill>
                  <a:srgbClr val="C83A3A"/>
                </a:solidFill>
                <a:latin typeface="Pretendard"/>
                <a:ea typeface="Pretendard"/>
              </a:rPr>
              <a:t>식후 대사</a:t>
            </a:r>
            <a:r>
              <a:rPr sz="2400" b="0" lang="ko-KR">
                <a:solidFill>
                  <a:srgbClr val="111111"/>
                </a:solidFill>
                <a:latin typeface="Pretendard"/>
                <a:ea typeface="Pretendard"/>
              </a:rPr>
              <a:t>와 관련해</a:t>
            </a:r>
          </a:p>
          <a:p>
            <a:pPr algn="l">
              <a:lnSpc>
                <a:spcPct val="145000"/>
              </a:lnSpc>
            </a:pPr>
            <a:r>
              <a:rPr sz="2400" b="0" lang="ko-KR">
                <a:solidFill>
                  <a:srgbClr val="111111"/>
                </a:solidFill>
                <a:latin typeface="Pretendard"/>
                <a:ea typeface="Pretendard"/>
              </a:rPr>
              <a:t>    국내외에서 연구가 활발한 성분이에요</a:t>
            </a:r>
          </a:p>
        </p:txBody>
      </p:sp>
      <p:sp>
        <p:nvSpPr>
          <p:cNvPr id="7" name="쪽수"/>
          <p:cNvSpPr txBox="1"/>
          <p:nvPr/>
        </p:nvSpPr>
        <p:spPr>
          <a:xfrm>
            <a:off x="9144000" y="1228725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5/8</a:t>
            </a:r>
          </a:p>
        </p:txBody>
      </p:sp>
      <p:sp>
        <p:nvSpPr>
          <p:cNvPr id="8" name="계정 아이디"/>
          <p:cNvSpPr txBox="1"/>
          <p:nvPr/>
        </p:nvSpPr>
        <p:spPr>
          <a:xfrm>
            <a:off x="381000" y="12287250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@[계정 아이디]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제목 검정 박스"/>
          <p:cNvSpPr/>
          <p:nvPr/>
        </p:nvSpPr>
        <p:spPr>
          <a:xfrm>
            <a:off x="1600200" y="666750"/>
            <a:ext cx="7086600" cy="990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900" b="1" lang="ko-KR">
                <a:solidFill>
                  <a:srgbClr val="FFFFFF"/>
                </a:solidFill>
                <a:latin typeface="Pretendard"/>
                <a:ea typeface="Pretendard"/>
              </a:rPr>
              <a:t>인슐린이 제대로 일하면</a:t>
            </a:r>
          </a:p>
        </p:txBody>
      </p:sp>
      <p:sp>
        <p:nvSpPr>
          <p:cNvPr id="4" name="제목 흰 박스"/>
          <p:cNvSpPr/>
          <p:nvPr/>
        </p:nvSpPr>
        <p:spPr>
          <a:xfrm>
            <a:off x="1524000" y="1771650"/>
            <a:ext cx="7239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750" b="1" lang="ko-KR">
                <a:solidFill>
                  <a:srgbClr val="111111"/>
                </a:solidFill>
                <a:latin typeface="Pretendard"/>
                <a:ea typeface="Pretendard"/>
              </a:rPr>
              <a:t>삶의 질 수직상승 포인트</a:t>
            </a:r>
          </a:p>
        </p:txBody>
      </p:sp>
      <p:sp>
        <p:nvSpPr>
          <p:cNvPr id="5" name="삶의 질 1"/>
          <p:cNvSpPr/>
          <p:nvPr/>
        </p:nvSpPr>
        <p:spPr>
          <a:xfrm>
            <a:off x="666750" y="3286125"/>
            <a:ext cx="89535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0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😌 식후 졸음 대신 </a:t>
            </a:r>
            <a:r>
              <a:rPr sz="2700" b="1" lang="ko-KR">
                <a:solidFill>
                  <a:srgbClr val="C83A3A"/>
                </a:solidFill>
                <a:latin typeface="Pretendard"/>
                <a:ea typeface="Pretendard"/>
              </a:rPr>
              <a:t>맑은 오후</a:t>
            </a:r>
          </a:p>
          <a:p>
            <a:pPr algn="l">
              <a:lnSpc>
                <a:spcPct val="130000"/>
              </a:lnSpc>
            </a:pPr>
            <a:r>
              <a:rPr sz="2025" b="0" lang="ko-KR">
                <a:solidFill>
                  <a:srgbClr val="5E5E5E"/>
                </a:solidFill>
                <a:latin typeface="Pretendard"/>
                <a:ea typeface="Pretendard"/>
              </a:rPr>
              <a:t>혈당이 완만하게 오르내려 식곤증이 덜해요</a:t>
            </a:r>
          </a:p>
        </p:txBody>
      </p:sp>
      <p:sp>
        <p:nvSpPr>
          <p:cNvPr id="6" name="삶의 질 2"/>
          <p:cNvSpPr/>
          <p:nvPr/>
        </p:nvSpPr>
        <p:spPr>
          <a:xfrm>
            <a:off x="666750" y="4905375"/>
            <a:ext cx="89535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0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🍫 4시의 </a:t>
            </a:r>
            <a:r>
              <a:rPr sz="2700" b="1" lang="ko-KR">
                <a:solidFill>
                  <a:srgbClr val="C83A3A"/>
                </a:solidFill>
                <a:latin typeface="Pretendard"/>
                <a:ea typeface="Pretendard"/>
              </a:rPr>
              <a:t>단 게 덜 당겨요</a:t>
            </a:r>
          </a:p>
          <a:p>
            <a:pPr algn="l">
              <a:lnSpc>
                <a:spcPct val="130000"/>
              </a:lnSpc>
            </a:pPr>
            <a:r>
              <a:rPr sz="2025" b="0" lang="ko-KR">
                <a:solidFill>
                  <a:srgbClr val="5E5E5E"/>
                </a:solidFill>
                <a:latin typeface="Pretendard"/>
                <a:ea typeface="Pretendard"/>
              </a:rPr>
              <a:t>혈당이 뚝 떨어지며 오는 가짜 배고픔이 줄어요</a:t>
            </a:r>
          </a:p>
        </p:txBody>
      </p:sp>
      <p:sp>
        <p:nvSpPr>
          <p:cNvPr id="7" name="삶의 질 3"/>
          <p:cNvSpPr/>
          <p:nvPr/>
        </p:nvSpPr>
        <p:spPr>
          <a:xfrm>
            <a:off x="666750" y="6524625"/>
            <a:ext cx="89535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0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👖 </a:t>
            </a:r>
            <a:r>
              <a:rPr sz="2700" b="1" lang="ko-KR">
                <a:solidFill>
                  <a:srgbClr val="C83A3A"/>
                </a:solidFill>
                <a:latin typeface="Pretendard"/>
                <a:ea typeface="Pretendard"/>
              </a:rPr>
              <a:t>배에 쌓이는 지방</a:t>
            </a: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 줄이기</a:t>
            </a:r>
          </a:p>
          <a:p>
            <a:pPr algn="l">
              <a:lnSpc>
                <a:spcPct val="130000"/>
              </a:lnSpc>
            </a:pPr>
            <a:r>
              <a:rPr sz="2025" b="0" lang="ko-KR">
                <a:solidFill>
                  <a:srgbClr val="5E5E5E"/>
                </a:solidFill>
                <a:latin typeface="Pretendard"/>
                <a:ea typeface="Pretendard"/>
              </a:rPr>
              <a:t>남는 당이 뱃살로 저장되는 흐름이 느려져요</a:t>
            </a:r>
          </a:p>
        </p:txBody>
      </p:sp>
      <p:sp>
        <p:nvSpPr>
          <p:cNvPr id="8" name="삶의 질 4"/>
          <p:cNvSpPr/>
          <p:nvPr/>
        </p:nvSpPr>
        <p:spPr>
          <a:xfrm>
            <a:off x="666750" y="8143875"/>
            <a:ext cx="89535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0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🚶‍♀️ 걷기·근력 루틴을 </a:t>
            </a:r>
            <a:r>
              <a:rPr sz="2700" b="1" lang="ko-KR">
                <a:solidFill>
                  <a:srgbClr val="C83A3A"/>
                </a:solidFill>
                <a:latin typeface="Pretendard"/>
                <a:ea typeface="Pretendard"/>
              </a:rPr>
              <a:t>이어갈 힘</a:t>
            </a:r>
          </a:p>
          <a:p>
            <a:pPr algn="l">
              <a:lnSpc>
                <a:spcPct val="130000"/>
              </a:lnSpc>
            </a:pPr>
            <a:r>
              <a:rPr sz="2025" b="0" lang="ko-KR">
                <a:solidFill>
                  <a:srgbClr val="5E5E5E"/>
                </a:solidFill>
                <a:latin typeface="Pretendard"/>
                <a:ea typeface="Pretendard"/>
              </a:rPr>
              <a:t>에너지가 고르게 유지돼 운동을 꾸준히 해요</a:t>
            </a:r>
          </a:p>
        </p:txBody>
      </p:sp>
      <p:sp>
        <p:nvSpPr>
          <p:cNvPr id="9" name="삶의 질 정리"/>
          <p:cNvSpPr txBox="1"/>
          <p:nvPr/>
        </p:nvSpPr>
        <p:spPr>
          <a:xfrm>
            <a:off x="666750" y="9953625"/>
            <a:ext cx="89535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lang="ko-KR">
                <a:solidFill>
                  <a:srgbClr val="111111"/>
                </a:solidFill>
                <a:latin typeface="Pretendard"/>
                <a:ea typeface="Pretendard"/>
              </a:rPr>
              <a:t>목표는 “살 빼기”가 아니라</a:t>
            </a:r>
          </a:p>
          <a:p>
            <a:pPr algn="ctr">
              <a:lnSpc>
                <a:spcPct val="130000"/>
              </a:lnSpc>
            </a:pPr>
            <a:r>
              <a:rPr sz="2400" b="1" lang="ko-KR">
                <a:solidFill>
                  <a:srgbClr val="C83A3A"/>
                </a:solidFill>
                <a:latin typeface="Pretendard"/>
                <a:ea typeface="Pretendard"/>
              </a:rPr>
              <a:t>매일이 가벼운 몸</a:t>
            </a:r>
            <a:r>
              <a:rPr sz="2400" b="1" lang="ko-KR">
                <a:solidFill>
                  <a:srgbClr val="111111"/>
                </a:solidFill>
                <a:latin typeface="Pretendard"/>
                <a:ea typeface="Pretendard"/>
              </a:rPr>
              <a:t>이에요.</a:t>
            </a:r>
          </a:p>
          <a:p>
            <a:pPr algn="ctr">
              <a:lnSpc>
                <a:spcPct val="130000"/>
              </a:lnSpc>
            </a:pPr>
            <a:r>
              <a:rPr sz="2400" b="1" lang="ko-KR">
                <a:solidFill>
                  <a:srgbClr val="111111"/>
                </a:solidFill>
                <a:latin typeface="Pretendard"/>
                <a:ea typeface="Pretendard"/>
              </a:rPr>
              <a:t>식사·걷기 루틴과 함께할 때 의미가 있어요.</a:t>
            </a:r>
          </a:p>
        </p:txBody>
      </p:sp>
      <p:sp>
        <p:nvSpPr>
          <p:cNvPr id="10" name="쪽수"/>
          <p:cNvSpPr txBox="1"/>
          <p:nvPr/>
        </p:nvSpPr>
        <p:spPr>
          <a:xfrm>
            <a:off x="9144000" y="1228725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6/8</a:t>
            </a:r>
          </a:p>
        </p:txBody>
      </p:sp>
      <p:sp>
        <p:nvSpPr>
          <p:cNvPr id="11" name="계정 아이디"/>
          <p:cNvSpPr txBox="1"/>
          <p:nvPr/>
        </p:nvSpPr>
        <p:spPr>
          <a:xfrm>
            <a:off x="381000" y="12287250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@[계정 아이디]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제목 검정 박스"/>
          <p:cNvSpPr/>
          <p:nvPr/>
        </p:nvSpPr>
        <p:spPr>
          <a:xfrm>
            <a:off x="2095500" y="666750"/>
            <a:ext cx="6096000" cy="990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900" b="1" lang="ko-KR">
                <a:solidFill>
                  <a:srgbClr val="FFFFFF"/>
                </a:solidFill>
                <a:latin typeface="Pretendard"/>
                <a:ea typeface="Pretendard"/>
              </a:rPr>
              <a:t>먹기 전 꼭 확인!</a:t>
            </a:r>
          </a:p>
        </p:txBody>
      </p:sp>
      <p:sp>
        <p:nvSpPr>
          <p:cNvPr id="4" name="제목 흰 박스"/>
          <p:cNvSpPr/>
          <p:nvPr/>
        </p:nvSpPr>
        <p:spPr>
          <a:xfrm>
            <a:off x="2714625" y="1771650"/>
            <a:ext cx="485775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750" b="1" lang="ko-KR">
                <a:solidFill>
                  <a:srgbClr val="111111"/>
                </a:solidFill>
                <a:latin typeface="Pretendard"/>
                <a:ea typeface="Pretendard"/>
              </a:rPr>
              <a:t>약사 체크리스트</a:t>
            </a:r>
          </a:p>
        </p:txBody>
      </p:sp>
      <p:sp>
        <p:nvSpPr>
          <p:cNvPr id="5" name="체크 1"/>
          <p:cNvSpPr/>
          <p:nvPr/>
        </p:nvSpPr>
        <p:spPr>
          <a:xfrm>
            <a:off x="666750" y="3429000"/>
            <a:ext cx="8953500" cy="19526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5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Q. 당뇨약·혈압약을 드시나요?</a:t>
            </a:r>
          </a:p>
          <a:p>
            <a:pPr algn="l">
              <a:lnSpc>
                <a:spcPct val="135000"/>
              </a:lnSpc>
            </a:pPr>
            <a:r>
              <a:rPr sz="2250" b="0" lang="ko-KR">
                <a:solidFill>
                  <a:srgbClr val="5E5E5E"/>
                </a:solidFill>
                <a:latin typeface="Pretendard"/>
                <a:ea typeface="Pretendard"/>
              </a:rPr>
              <a:t>함께 드시면 혈당이 너무 떨어질 수 있어요. </a:t>
            </a:r>
            <a:r>
              <a:rPr sz="2250" b="1" lang="ko-KR">
                <a:solidFill>
                  <a:srgbClr val="C83A3A"/>
                </a:solidFill>
                <a:latin typeface="Pretendard"/>
                <a:ea typeface="Pretendard"/>
              </a:rPr>
              <a:t>꼭 상담 후</a:t>
            </a:r>
            <a:r>
              <a:rPr sz="2250" b="0" lang="ko-KR">
                <a:solidFill>
                  <a:srgbClr val="5E5E5E"/>
                </a:solidFill>
                <a:latin typeface="Pretendard"/>
                <a:ea typeface="Pretendard"/>
              </a:rPr>
              <a:t> 드세요.</a:t>
            </a:r>
          </a:p>
        </p:txBody>
      </p:sp>
      <p:sp>
        <p:nvSpPr>
          <p:cNvPr id="6" name="체크 2"/>
          <p:cNvSpPr/>
          <p:nvPr/>
        </p:nvSpPr>
        <p:spPr>
          <a:xfrm>
            <a:off x="666750" y="5619750"/>
            <a:ext cx="8953500" cy="19526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5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Q. 다른 약을 꾸준히 드시나요?</a:t>
            </a:r>
          </a:p>
          <a:p>
            <a:pPr algn="l">
              <a:lnSpc>
                <a:spcPct val="135000"/>
              </a:lnSpc>
            </a:pPr>
            <a:r>
              <a:rPr sz="2250" b="0" lang="ko-KR">
                <a:solidFill>
                  <a:srgbClr val="5E5E5E"/>
                </a:solidFill>
                <a:latin typeface="Pretendard"/>
                <a:ea typeface="Pretendard"/>
              </a:rPr>
              <a:t>약 대사에 영향을 줄 수 있어 </a:t>
            </a:r>
            <a:r>
              <a:rPr sz="2250" b="1" lang="ko-KR">
                <a:solidFill>
                  <a:srgbClr val="C83A3A"/>
                </a:solidFill>
                <a:latin typeface="Pretendard"/>
                <a:ea typeface="Pretendard"/>
              </a:rPr>
              <a:t>복용 중인 약</a:t>
            </a:r>
            <a:r>
              <a:rPr sz="2250" b="0" lang="ko-KR">
                <a:solidFill>
                  <a:srgbClr val="5E5E5E"/>
                </a:solidFill>
                <a:latin typeface="Pretendard"/>
                <a:ea typeface="Pretendard"/>
              </a:rPr>
              <a:t>을 알려 주세요.</a:t>
            </a:r>
          </a:p>
        </p:txBody>
      </p:sp>
      <p:sp>
        <p:nvSpPr>
          <p:cNvPr id="7" name="체크 3"/>
          <p:cNvSpPr/>
          <p:nvPr/>
        </p:nvSpPr>
        <p:spPr>
          <a:xfrm>
            <a:off x="666750" y="7810500"/>
            <a:ext cx="8953500" cy="19526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l">
              <a:lnSpc>
                <a:spcPct val="135000"/>
              </a:lnSpc>
            </a:pPr>
            <a:r>
              <a:rPr sz="2700" b="1" lang="ko-KR">
                <a:solidFill>
                  <a:srgbClr val="111111"/>
                </a:solidFill>
                <a:latin typeface="Pretendard"/>
                <a:ea typeface="Pretendard"/>
              </a:rPr>
              <a:t>Q. 속이 예민하신가요?</a:t>
            </a:r>
          </a:p>
          <a:p>
            <a:pPr algn="l">
              <a:lnSpc>
                <a:spcPct val="135000"/>
              </a:lnSpc>
            </a:pPr>
            <a:r>
              <a:rPr sz="2250" b="0" lang="ko-KR">
                <a:solidFill>
                  <a:srgbClr val="5E5E5E"/>
                </a:solidFill>
                <a:latin typeface="Pretendard"/>
                <a:ea typeface="Pretendard"/>
              </a:rPr>
              <a:t>빈속보다 </a:t>
            </a:r>
            <a:r>
              <a:rPr sz="2250" b="1" lang="ko-KR">
                <a:solidFill>
                  <a:srgbClr val="C83A3A"/>
                </a:solidFill>
                <a:latin typeface="Pretendard"/>
                <a:ea typeface="Pretendard"/>
              </a:rPr>
              <a:t>식사와 함께</a:t>
            </a:r>
            <a:r>
              <a:rPr sz="2250" b="0" lang="ko-KR">
                <a:solidFill>
                  <a:srgbClr val="5E5E5E"/>
                </a:solidFill>
                <a:latin typeface="Pretendard"/>
                <a:ea typeface="Pretendard"/>
              </a:rPr>
              <a:t> 드시는 게 편해요.</a:t>
            </a:r>
          </a:p>
        </p:txBody>
      </p:sp>
      <p:sp>
        <p:nvSpPr>
          <p:cNvPr id="8" name="주의 문구"/>
          <p:cNvSpPr txBox="1"/>
          <p:nvPr/>
        </p:nvSpPr>
        <p:spPr>
          <a:xfrm>
            <a:off x="666750" y="10287000"/>
            <a:ext cx="89535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50" b="0" lang="ko-KR">
                <a:solidFill>
                  <a:srgbClr val="5E5E5E"/>
                </a:solidFill>
                <a:latin typeface="Pretendard"/>
                <a:ea typeface="Pretendard"/>
              </a:rPr>
              <a:t>※ 임신·수유 중이거나 간·신장 질환이 있으면 드시지 마세요.</a:t>
            </a:r>
          </a:p>
          <a:p>
            <a:pPr algn="ctr">
              <a:lnSpc>
                <a:spcPct val="130000"/>
              </a:lnSpc>
            </a:pPr>
            <a:r>
              <a:rPr sz="1950" b="0" lang="ko-KR">
                <a:solidFill>
                  <a:srgbClr val="5E5E5E"/>
                </a:solidFill>
                <a:latin typeface="Pretendard"/>
                <a:ea typeface="Pretendard"/>
              </a:rPr>
              <a:t>※ 개인 상태에 따라 다를 수 있어 약사와 상담을 권해요.</a:t>
            </a:r>
          </a:p>
        </p:txBody>
      </p:sp>
      <p:sp>
        <p:nvSpPr>
          <p:cNvPr id="9" name="쪽수"/>
          <p:cNvSpPr txBox="1"/>
          <p:nvPr/>
        </p:nvSpPr>
        <p:spPr>
          <a:xfrm>
            <a:off x="9144000" y="1228725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7/8</a:t>
            </a:r>
          </a:p>
        </p:txBody>
      </p:sp>
      <p:sp>
        <p:nvSpPr>
          <p:cNvPr id="10" name="계정 아이디"/>
          <p:cNvSpPr txBox="1"/>
          <p:nvPr/>
        </p:nvSpPr>
        <p:spPr>
          <a:xfrm>
            <a:off x="381000" y="12287250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lang="ko-KR">
                <a:solidFill>
                  <a:srgbClr val="5E5E5E"/>
                </a:solidFill>
                <a:latin typeface="Pretendard"/>
                <a:ea typeface="Pretendard"/>
              </a:rPr>
              <a:t>@[계정 아이디]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진 자리 (사진 넣고 글자 삭제)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tIns="171450" rIns="342900" bIns="171450"/>
          <a:lstStyle/>
          <a:p>
            <a:pPr algn="ctr">
              <a:lnSpc>
                <a:spcPct val="130000"/>
              </a:lnSpc>
            </a:pPr>
            <a:r>
              <a:rPr sz="2550" b="1" lang="ko-KR">
                <a:solidFill>
                  <a:srgbClr val="FFFFFF"/>
                </a:solidFill>
                <a:latin typeface="Pretendard"/>
                <a:ea typeface="Pretendard"/>
              </a:rPr>
              <a:t>📷 사진 자리</a:t>
            </a:r>
          </a:p>
          <a:p>
            <a:pPr algn="ctr">
              <a:lnSpc>
                <a:spcPct val="130000"/>
              </a:lnSpc>
            </a:pPr>
            <a:r>
              <a:rPr sz="1800" b="0" lang="ko-KR">
                <a:solidFill>
                  <a:srgbClr val="FFFFFF"/>
                </a:solidFill>
                <a:latin typeface="Pretendard"/>
                <a:ea typeface="Pretendard"/>
              </a:rPr>
              <a:t>약사님 상반신, 카메라를 보며 미소 (흰 가운)</a:t>
            </a:r>
          </a:p>
        </p:txBody>
      </p:sp>
      <p:sp>
        <p:nvSpPr>
          <p:cNvPr id="3" name="제목 검정 박스"/>
          <p:cNvSpPr/>
          <p:nvPr/>
        </p:nvSpPr>
        <p:spPr>
          <a:xfrm>
            <a:off x="1352550" y="571500"/>
            <a:ext cx="7581900" cy="990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900" b="1" lang="ko-KR">
                <a:solidFill>
                  <a:srgbClr val="FFFFFF"/>
                </a:solidFill>
                <a:latin typeface="Pretendard"/>
                <a:ea typeface="Pretendard"/>
              </a:rPr>
              <a:t>나한테 맞는지 궁금하다면</a:t>
            </a:r>
          </a:p>
        </p:txBody>
      </p:sp>
      <p:sp>
        <p:nvSpPr>
          <p:cNvPr id="4" name="제목 흰 박스"/>
          <p:cNvSpPr/>
          <p:nvPr/>
        </p:nvSpPr>
        <p:spPr>
          <a:xfrm>
            <a:off x="571500" y="1676400"/>
            <a:ext cx="9144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750" b="1" lang="ko-KR">
                <a:solidFill>
                  <a:srgbClr val="111111"/>
                </a:solidFill>
                <a:latin typeface="Pretendard"/>
                <a:ea typeface="Pretendard"/>
              </a:rPr>
              <a:t>댓글에 “베르베린” 남겨 주세요</a:t>
            </a:r>
          </a:p>
        </p:txBody>
      </p:sp>
      <p:sp>
        <p:nvSpPr>
          <p:cNvPr id="5" name="계정 아이디"/>
          <p:cNvSpPr/>
          <p:nvPr/>
        </p:nvSpPr>
        <p:spPr>
          <a:xfrm>
            <a:off x="2286000" y="10858500"/>
            <a:ext cx="5715000" cy="9525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7150" rIns="190500" bIns="57150"/>
          <a:lstStyle/>
          <a:p>
            <a:pPr algn="ctr">
              <a:lnSpc>
                <a:spcPct val="130000"/>
              </a:lnSpc>
            </a:pPr>
            <a:r>
              <a:rPr sz="3000" b="1" lang="ko-KR">
                <a:solidFill>
                  <a:srgbClr val="FFFFFF"/>
                </a:solidFill>
                <a:latin typeface="Pretendard"/>
                <a:ea typeface="Pretendard"/>
              </a:rPr>
              <a:t>@[계정 아이디]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