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9FC3E6"/>
              </a:gs>
              <a:gs pos="100000">
                <a:srgbClr val="566D4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남매가 함께 달려가는 뒷모습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9750" y="3619500"/>
            <a:ext cx="6667500" cy="1238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66675" bIns="66675"/>
          <a:lstStyle/>
          <a:p>
            <a:pPr algn="ctr">
              <a:lnSpc>
                <a:spcPct val="135000"/>
              </a:lnSpc>
            </a:pPr>
            <a:r>
              <a:rPr sz="4650" b="1">
                <a:solidFill>
                  <a:srgbClr val="111111"/>
                </a:solidFill>
                <a:latin typeface="Noto Sans KR"/>
              </a:rPr>
              <a:t>만 5세 · 60개월 미만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5048250"/>
            <a:ext cx="9525000" cy="247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15000"/>
              </a:lnSpc>
            </a:pPr>
            <a:r>
              <a:rPr sz="5850" b="1">
                <a:solidFill>
                  <a:srgbClr val="FFFFFF"/>
                </a:solidFill>
                <a:latin typeface="Noto Sans KR"/>
              </a:rPr>
              <a:t>눈👀, 잠😴, 뇌🧠, 면역</a:t>
            </a:r>
          </a:p>
          <a:p>
            <a:pPr algn="ctr">
              <a:lnSpc>
                <a:spcPct val="115000"/>
              </a:lnSpc>
            </a:pPr>
            <a:r>
              <a:rPr sz="5850" b="1">
                <a:solidFill>
                  <a:srgbClr val="FFFFFF"/>
                </a:solidFill>
                <a:latin typeface="Noto Sans KR"/>
              </a:rPr>
              <a:t>같은 재료로 자라요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B9C8D6"/>
              </a:gs>
              <a:gs pos="100000">
                <a:srgbClr val="6D7F7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엄마가 둘째를 안고 있는 모습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66750"/>
            <a:ext cx="60960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9000" b="0">
                <a:solidFill>
                  <a:srgbClr val="FFFFFF"/>
                </a:solidFill>
                <a:latin typeface="Noto Sans KR"/>
              </a:rPr>
              <a:t>#눈 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7620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눈이 자라는 시기에도</a:t>
            </a:r>
          </a:p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재료가 필요해요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000500"/>
            <a:ext cx="7810500" cy="261937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망막 시세포막에 가장 많은 오메가3 = DHA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미국 DIAMOND 연구, 아기 244명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DHA를 넣은 분유를 먹은 아기들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12개월 때 시력이 더 선명했어요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0" y="8362950"/>
            <a:ext cx="7239000" cy="1466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눈은 "안 보여"라고 말하기 어려운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아이 몸에서 조용히 자라요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0" y="10020300"/>
            <a:ext cx="7239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만 3~5세 사이 시력검사 최소 1번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하루 한 번은 햇빛 아래 바깥놀이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등푸른 생선 반찬 주 2회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192000"/>
            <a:ext cx="914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출처: Birch EE 외, Am J Clin Nutr 2010 (DIAMOND)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A8B88A"/>
              </a:gs>
              <a:gs pos="100000">
                <a:srgbClr val="5D744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풀밭에 쪼그려 앉은 남매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66750"/>
            <a:ext cx="60960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9000" b="0">
                <a:solidFill>
                  <a:srgbClr val="FFFFFF"/>
                </a:solidFill>
                <a:latin typeface="Noto Sans KR"/>
              </a:rPr>
              <a:t>#잠 😴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7620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잘 자는 아이,</a:t>
            </a:r>
          </a:p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DHA와도 이어져 있었어요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000500"/>
            <a:ext cx="7810500" cy="317182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영국 옥스퍼드 DOLAB 연구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7~9세 아이, 하루 DHA 600mg 16주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수면을 측정한 43명: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하룻밤 평균 58분 더 자고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밤에 깨는 횟수 7번 줄었어요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8362950"/>
            <a:ext cx="7239000" cy="1466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혈중 DHA가 높은 아이일수록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잠투정·수면 문제가 적었어요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020300"/>
            <a:ext cx="7239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자기 1시간 전 TV·폰 끄기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양치 → 책 1권 → 불 끄기, 같은 순서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아침 햇빛 15분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192000"/>
            <a:ext cx="914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출처: Montgomery P 외, J Sleep Res 2014 · 작은 예비 연구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7D8F7A"/>
              </a:gs>
              <a:gs pos="100000">
                <a:srgbClr val="4A5A5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냇가를 들여다보는 남매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66750"/>
            <a:ext cx="60960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9000" b="0">
                <a:solidFill>
                  <a:srgbClr val="FFFFFF"/>
                </a:solidFill>
                <a:latin typeface="Noto Sans KR"/>
              </a:rPr>
              <a:t>#뇌·집중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7620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읽기가 느린 아이일수록</a:t>
            </a:r>
          </a:p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차이가 컸어요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000500"/>
            <a:ext cx="7810500" cy="261937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같은 DOLAB 연구, 7~9세 362명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읽기 하위 10% 아이들: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읽기 나이가 1.9개월 더 앞섰어요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부모 평가 산만함·감정 기복도 줄었어요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0" y="7848600"/>
            <a:ext cx="7239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뇌에 가장 많은 오메가3가 DHA.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후속 연구는 결과가 엇갈려서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"부족하지 않게"가 핵심이에요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0" y="10020300"/>
            <a:ext cx="7239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하루 10분 책 읽어주기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화면보다 눈맞춤 대화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생선 못 먹는 날 대안 정해두기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192000"/>
            <a:ext cx="914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출처: Richardson AJ 외, PLoS One 2012 · 후속 DOLAB II 2018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C9B38F"/>
              </a:gs>
              <a:gs pos="100000">
                <a:srgbClr val="59656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징검다리 위 엄마와 둘째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66750"/>
            <a:ext cx="60960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9000" b="0">
                <a:solidFill>
                  <a:srgbClr val="FFFFFF"/>
                </a:solidFill>
                <a:latin typeface="Noto Sans KR"/>
              </a:rPr>
              <a:t>#면역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7620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엄마 배 속에서부터</a:t>
            </a:r>
          </a:p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이어져 있었어요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000500"/>
            <a:ext cx="7810500" cy="261937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덴마크 COPSAC 연구, 임산부 736명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임신 24주부터 오메가3(EPA+DHA) 섭취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아이 5세까지 천식·쌕쌕거림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23.7% → 16.9%로 줄었어요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0" y="8362950"/>
            <a:ext cx="7239000" cy="1466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엄마 혈중 오메가3가 낮았던 경우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차이가 가장 컸어요 (34.1% → 17.5%)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0" y="10020300"/>
            <a:ext cx="7239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외출 후·식사 전 비누로 20초 손 씻기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컵·수건은 따로 쓰기</a:t>
            </a:r>
          </a:p>
          <a:p>
            <a:pPr algn="r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임신·수유 중이라면 섭취량은 상담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192000"/>
            <a:ext cx="914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출처: Bisgaard H 외, N Engl J Med 2016 · 연구 용량 하루 2.4g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B9C8D6"/>
              </a:gs>
              <a:gs pos="100000">
                <a:srgbClr val="6D7F7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아이가 생선 반찬 먹는 식탁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66750"/>
            <a:ext cx="60960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9000" b="0">
                <a:solidFill>
                  <a:srgbClr val="FFFFFF"/>
                </a:solidFill>
                <a:latin typeface="Noto Sans KR"/>
              </a:rPr>
              <a:t>#생선 🐟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7620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많이보다</a:t>
            </a:r>
          </a:p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안전하게, 꾸준히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4000500"/>
          <a:ext cx="81915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2730500"/>
                <a:gridCol w="2730500"/>
              </a:tblGrid>
              <a:tr h="714375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CFD6D2"/>
                          </a:solidFill>
                          <a:latin typeface="Noto Sans KR"/>
                        </a:rPr>
                        <a:t>한 주 기준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CFD6D2"/>
                          </a:solidFill>
                          <a:latin typeface="Noto Sans KR"/>
                        </a:rPr>
                        <a:t>일반 생선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CFD6D2"/>
                          </a:solidFill>
                          <a:latin typeface="Noto Sans KR"/>
                        </a:rPr>
                        <a:t>다랑어·새치·상어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1~2세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100g 이하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25g 이하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3~6세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150g 이하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40g 이하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7~10세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250g 이하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FFFFFF"/>
                          </a:solidFill>
                          <a:latin typeface="Noto Sans KR"/>
                        </a:rPr>
                        <a:t>65g 이하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1500" y="8362950"/>
            <a:ext cx="7239000" cy="1466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큰 생선일수록 수은이 많아서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작은 등푸른 생선 위주가 좋아요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020300"/>
            <a:ext cx="7239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고등어·꽁치·연어, 나눠서 자주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튀김보다 굽기·조림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111111"/>
                </a:solidFill>
                <a:latin typeface="Noto Sans KR"/>
              </a:rPr>
              <a:t>✓ 한 번 거부해도 8~10번 다시 주기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192000"/>
            <a:ext cx="914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출처: 식품의약품안전처 생선 안전 섭취 가이드 (2017)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6B5A4C"/>
              </a:gs>
              <a:gs pos="100000">
                <a:srgbClr val="2E3A3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첫째 얼굴 클로즈업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3500" y="952500"/>
            <a:ext cx="7620000" cy="1809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4775" bIns="104775"/>
          <a:lstStyle/>
          <a:p>
            <a:pPr algn="ctr">
              <a:lnSpc>
                <a:spcPct val="120000"/>
              </a:lnSpc>
            </a:pPr>
            <a:r>
              <a:rPr sz="4050" b="0">
                <a:solidFill>
                  <a:srgbClr val="111111"/>
                </a:solidFill>
                <a:latin typeface="Noto Sans KR"/>
              </a:rPr>
              <a:t>이게 다 하나로 모이는</a:t>
            </a:r>
          </a:p>
          <a:p>
            <a:pPr algn="ctr">
              <a:lnSpc>
                <a:spcPct val="120000"/>
              </a:lnSpc>
            </a:pPr>
            <a:r>
              <a:rPr sz="4050" b="0">
                <a:solidFill>
                  <a:srgbClr val="111111"/>
                </a:solidFill>
                <a:latin typeface="Noto Sans KR"/>
              </a:rPr>
              <a:t>지점이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50" y="3048000"/>
            <a:ext cx="13335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35000"/>
              </a:lnSpc>
            </a:pPr>
            <a:r>
              <a:rPr sz="5700" b="0">
                <a:solidFill>
                  <a:srgbClr val="FFFFFF"/>
                </a:solidFill>
                <a:latin typeface="Noto Sans KR"/>
              </a:rPr>
              <a:t>👉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0" y="3048000"/>
            <a:ext cx="4191000" cy="1047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66675" bIns="66675"/>
          <a:lstStyle/>
          <a:p>
            <a:pPr algn="ctr">
              <a:lnSpc>
                <a:spcPct val="135000"/>
              </a:lnSpc>
            </a:pPr>
            <a:r>
              <a:rPr sz="4650" b="0">
                <a:solidFill>
                  <a:srgbClr val="111111"/>
                </a:solidFill>
                <a:latin typeface="Noto Sans KR"/>
              </a:rPr>
              <a:t>바로 DHA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4238625"/>
            <a:ext cx="8382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그만큼 우리 아이들 몸에서</a:t>
            </a:r>
          </a:p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정-말 많이 쓰인다는 뜻이에요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0" y="5715000"/>
            <a:ext cx="4762500" cy="20955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33350" bIns="133350"/>
          <a:lstStyle/>
          <a:p>
            <a:pPr algn="ctr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그렇다면 지난 한 달,</a:t>
            </a:r>
          </a:p>
          <a:p>
            <a:pPr algn="ctr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생선을 주 2회 꾸준히</a:t>
            </a:r>
          </a:p>
          <a:p>
            <a:pPr algn="ctr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챙겼나 생각해볼까요?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8382000"/>
            <a:ext cx="876300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rIns="342900" tIns="238125" bIns="238125"/>
          <a:lstStyle/>
          <a:p>
            <a:pPr algn="l">
              <a:lnSpc>
                <a:spcPct val="135000"/>
              </a:lnSpc>
            </a:pPr>
            <a:r>
              <a:rPr sz="2550" b="0">
                <a:solidFill>
                  <a:srgbClr val="333333"/>
                </a:solidFill>
                <a:latin typeface="Noto Sans KR"/>
              </a:rPr>
              <a:t>이화여대 식품영양학과 연구팀이 임산부 190명, 수유부 219명, 12~24개월 유아 420명을 분석했어요.</a:t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333333"/>
                </a:solidFill>
                <a:latin typeface="Noto Sans K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2550" b="0">
                <a:solidFill>
                  <a:srgbClr val="333333"/>
                </a:solidFill>
                <a:latin typeface="Noto Sans KR"/>
              </a:rPr>
              <a:t>임산부·수유부의 약 80%, 유아의 91.8%가 권장 섭취량보다 DHA를 적게 먹고 있었어요.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7620000"/>
            <a:ext cx="3143250" cy="952500"/>
          </a:xfrm>
          <a:prstGeom prst="rect">
            <a:avLst/>
          </a:prstGeom>
          <a:solidFill>
            <a:srgbClr val="FFD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7625" bIns="47625"/>
          <a:lstStyle/>
          <a:p>
            <a:pPr algn="ctr">
              <a:lnSpc>
                <a:spcPct val="135000"/>
              </a:lnSpc>
            </a:pPr>
            <a:r>
              <a:rPr sz="3900" b="1">
                <a:solidFill>
                  <a:srgbClr val="E0103A"/>
                </a:solidFill>
                <a:latin typeface="Noto Sans KR"/>
              </a:rPr>
              <a:t>❗91.8%❗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2192000"/>
            <a:ext cx="914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출처: 이화여대 식품영양학과·DSM 공동 연구 (2018년 10월 보도)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A8B88A"/>
              </a:gs>
              <a:gs pos="100000">
                <a:srgbClr val="5D744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남매가 손잡고 걷는 모습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66750"/>
            <a:ext cx="60960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9000" b="0">
                <a:solidFill>
                  <a:srgbClr val="FFFFFF"/>
                </a:solidFill>
                <a:latin typeface="Noto Sans KR"/>
              </a:rPr>
              <a:t>#체크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7620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우리 아이는</a:t>
            </a:r>
          </a:p>
          <a:p>
            <a:pPr algn="l">
              <a:lnSpc>
                <a:spcPct val="120000"/>
              </a:lnSpc>
            </a:pPr>
            <a:r>
              <a:rPr sz="3600" b="0">
                <a:solidFill>
                  <a:srgbClr val="FFFFFF"/>
                </a:solidFill>
                <a:latin typeface="Noto Sans KR"/>
              </a:rPr>
              <a:t>몇 개 챙기고 있나요?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000500"/>
            <a:ext cx="7810500" cy="317182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등푸른 생선 주 2회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큰 생선은 횟수 줄이기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들기름·견과류만 믿지 않기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과자·튀김 간식 줄이기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FFFFFF"/>
                </a:solidFill>
                <a:latin typeface="Noto Sans KR"/>
              </a:rPr>
              <a:t>* 좋은 기름은 햇빛·열 피해 보관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500" y="10467975"/>
            <a:ext cx="5334000" cy="1533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rIns="247650" tIns="171450" bIns="171450"/>
          <a:lstStyle/>
          <a:p>
            <a:pPr algn="r">
              <a:lnSpc>
                <a:spcPct val="135000"/>
              </a:lnSpc>
            </a:pPr>
            <a:r>
              <a:rPr sz="2700" b="0">
                <a:solidFill>
                  <a:srgbClr val="111111"/>
                </a:solidFill>
                <a:latin typeface="Noto Sans KR"/>
              </a:rPr>
              <a:t>5개 중 몇 개인지</a:t>
            </a:r>
          </a:p>
          <a:p>
            <a:pPr algn="r">
              <a:lnSpc>
                <a:spcPct val="135000"/>
              </a:lnSpc>
            </a:pPr>
            <a:r>
              <a:rPr sz="2700" b="0">
                <a:solidFill>
                  <a:srgbClr val="111111"/>
                </a:solidFill>
                <a:latin typeface="Noto Sans KR"/>
              </a:rPr>
              <a:t>숫자로 댓글 남겨주세요 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으로 교체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9FC3E6"/>
              </a:gs>
              <a:gs pos="100000">
                <a:srgbClr val="566D4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85750"/>
            <a:ext cx="3333750" cy="66675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FFFFFF"/>
                </a:solidFill>
                <a:latin typeface="Noto Sans KR"/>
              </a:rPr>
              <a:t>사진: 레인보우약사와 아이들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3143250"/>
            <a:ext cx="95250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15000"/>
              </a:lnSpc>
            </a:pPr>
            <a:r>
              <a:rPr sz="6450" b="1">
                <a:solidFill>
                  <a:srgbClr val="FFFFFF"/>
                </a:solidFill>
                <a:latin typeface="Noto Sans KR"/>
              </a:rPr>
              <a:t>DHA 채우는 법,</a:t>
            </a:r>
          </a:p>
          <a:p>
            <a:pPr algn="ctr">
              <a:lnSpc>
                <a:spcPct val="115000"/>
              </a:lnSpc>
            </a:pPr>
            <a:r>
              <a:rPr sz="6450" b="1">
                <a:solidFill>
                  <a:srgbClr val="FFFFFF"/>
                </a:solidFill>
                <a:latin typeface="Noto Sans KR"/>
              </a:rPr>
              <a:t>정리해서 보내드릴게요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2250" y="5810250"/>
            <a:ext cx="4762500" cy="161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5000"/>
              </a:lnSpc>
            </a:pPr>
            <a:r>
              <a:rPr sz="9000" b="1">
                <a:solidFill>
                  <a:srgbClr val="111111"/>
                </a:solidFill>
                <a:latin typeface="Noto Sans KR"/>
              </a:rPr>
              <a:t>'DHA'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7810500"/>
            <a:ext cx="8572500" cy="247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25000"/>
              </a:lnSpc>
            </a:pPr>
            <a:r>
              <a:rPr sz="3750" b="0">
                <a:solidFill>
                  <a:srgbClr val="FFFFFF"/>
                </a:solidFill>
                <a:latin typeface="Noto Sans KR"/>
              </a:rPr>
              <a:t>댓글 남겨주시면</a:t>
            </a:r>
          </a:p>
          <a:p>
            <a:pPr algn="ctr">
              <a:lnSpc>
                <a:spcPct val="125000"/>
              </a:lnSpc>
            </a:pPr>
            <a:r>
              <a:rPr sz="3750" b="0">
                <a:solidFill>
                  <a:srgbClr val="FFFFFF"/>
                </a:solidFill>
                <a:latin typeface="Noto Sans KR"/>
              </a:rPr>
              <a:t>DHA 채우는 음식 5가지 +</a:t>
            </a:r>
          </a:p>
          <a:p>
            <a:pPr algn="ctr">
              <a:lnSpc>
                <a:spcPct val="125000"/>
              </a:lnSpc>
            </a:pPr>
            <a:r>
              <a:rPr sz="3750" b="0">
                <a:solidFill>
                  <a:srgbClr val="FFFFFF"/>
                </a:solidFill>
                <a:latin typeface="Noto Sans KR"/>
              </a:rPr>
              <a:t>약사가 보는 숫자 3개 DM 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